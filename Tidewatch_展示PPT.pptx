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148155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TideWatch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3072021"/>
            <a:ext cx="11291888" cy="556468"/>
          </a:xfrm>
          <a:prstGeom prst="rect">
            <a:avLst/>
          </a:prstGeom>
          <a:noFill/>
          <a:ln/>
        </p:spPr>
        <p:txBody>
          <a:bodyPr wrap="square" lIns="0" tIns="0" rIns="0" bIns="10772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河道水位与水质智能监测、预警与多端协同系统</a:t>
            </a:r>
            <a:endParaRPr lang="en-US" sz="2828" dirty="0"/>
          </a:p>
        </p:txBody>
      </p:sp>
      <p:sp>
        <p:nvSpPr>
          <p:cNvPr id="4" name="Text 2"/>
          <p:cNvSpPr/>
          <p:nvPr/>
        </p:nvSpPr>
        <p:spPr>
          <a:xfrm>
            <a:off x="747713" y="3756720"/>
            <a:ext cx="106965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作者：Wuqi</a:t>
            </a:r>
            <a:pPr algn="l" indent="0" marL="0">
              <a:lnSpc>
                <a:spcPct val="125000"/>
              </a:lnSpc>
              <a:buNone/>
            </a:pPr>
            <a:endParaRPr lang="en-US" sz="2175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日期：2026-10-04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739473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项目问题与目标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562969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三断面水位/水质靠人工巡检，响应滞后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告警只看当下值，没有处置闭环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值班室、现场、调度三拨人信息割裂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目标：自动判级 → 事件流转 → 多端协同 → 数据留痕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648944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648944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：一条实时数据流，驱动三端一致行动；异常从发现到恢复全程留痕。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692468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最终产品长什么样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1515963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监测台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：三断面总览、事件列表、规则/ML 对照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移动端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：只看优先关注断面，大按钮一键干预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3D 河道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：水位柱、风险色、事件图标，空间定位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离线分析链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：CSV → 统计报告；CSV → ML 对照</a:t>
            </a:r>
            <a:endParaRPr lang="en-US" sz="21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3" y="5771852"/>
            <a:ext cx="2857500" cy="112275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966" y="3601938"/>
            <a:ext cx="2857500" cy="329267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220" y="5102870"/>
            <a:ext cx="2857500" cy="17917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064389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系统架构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1956941"/>
            <a:ext cx="10696575" cy="1676400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565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simulator.py ──&gt; Mosquitto(1883/8083) ──&gt; Web / 移动端 / 3D（WS 订阅）</a:t>
            </a:r>
            <a:pPr indent="0" marL="0">
              <a:buNone/>
            </a:pPr>
            <a:endParaRPr lang="en-US" sz="1565" dirty="0"/>
          </a:p>
          <a:p>
            <a:pPr indent="0" marL="0">
              <a:buNone/>
            </a:pPr>
            <a:r>
              <a:rPr lang="en-US" sz="1565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append</a:t>
            </a:r>
            <a:pPr indent="0" marL="0">
              <a:buNone/>
            </a:pPr>
            <a:endParaRPr lang="en-US" sz="1565" dirty="0"/>
          </a:p>
          <a:p>
            <a:pPr indent="0" marL="0">
              <a:buNone/>
            </a:pPr>
            <a:r>
              <a:rPr lang="en-US" sz="1565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pPr indent="0" marL="0">
              <a:buNone/>
            </a:pPr>
            <a:endParaRPr lang="en-US" sz="1565" dirty="0"/>
          </a:p>
          <a:p>
            <a:pPr indent="0" marL="0">
              <a:buNone/>
            </a:pPr>
            <a:r>
              <a:rPr lang="en-US" sz="1565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tidewatch_history.csv ──&gt; analyze.py ──&gt; report.html</a:t>
            </a:r>
            <a:pPr indent="0" marL="0">
              <a:buNone/>
            </a:pPr>
            <a:endParaRPr lang="en-US" sz="1565" dirty="0"/>
          </a:p>
          <a:p>
            <a:pPr indent="0" marL="0">
              <a:buNone/>
            </a:pPr>
            <a:r>
              <a:rPr lang="en-US" sz="1565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└─&gt; ml_detect.py ──&gt; web/d5_compare.json</a:t>
            </a:r>
            <a:pPr indent="0" marL="0">
              <a:buNone/>
            </a:pPr>
            <a:endParaRPr lang="en-US" sz="1565" dirty="0"/>
          </a:p>
        </p:txBody>
      </p:sp>
      <p:sp>
        <p:nvSpPr>
          <p:cNvPr id="4" name="Text 2"/>
          <p:cNvSpPr/>
          <p:nvPr/>
        </p:nvSpPr>
        <p:spPr>
          <a:xfrm>
            <a:off x="747713" y="3716685"/>
            <a:ext cx="10696575" cy="145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Broker 双监听：1883 MQTT + 8083 WebSocket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QoS 1，匿名访问，三端订阅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849" dirty="0">
                <a:solidFill>
                  <a:srgbClr val="1F2328"/>
                </a:solidFill>
                <a:highlight>
                  <a:srgbClr val="F0F1F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tidewatch/+/state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前端库（mqtt.js/three.js）全部本地化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747713" y="5323880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" name="Text 4"/>
          <p:cNvSpPr/>
          <p:nvPr/>
        </p:nvSpPr>
        <p:spPr>
          <a:xfrm>
            <a:off x="814388" y="5323880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：零外网依赖；实时链与离线链共享同一数据源。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739473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核心数据与判级规则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562969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六字段 JSON：reachId / waterLevel / turbidity / flowLevel / status / time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判级：≥8.5 洪水预警；≥7.0 高水位警戒；≥60 水质浑浊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status 只能由规则计算，任何端都不可手填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 Topic：state / event/update / intervention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648944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648944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：reachId 是唯一状态 key——三断面从源头到界面都不串线。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363236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事件状态机与消息健壮性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255788"/>
            <a:ext cx="10696575" cy="600075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1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异常数据 → OPEN → 人工干预 → HANDLING → 新数据满足恢复 → RECOVERED(锁定)</a:t>
            </a:r>
            <a:pPr indent="0" marL="0">
              <a:buNone/>
            </a:pPr>
            <a:endParaRPr lang="en-US" sz="1011" dirty="0"/>
          </a:p>
        </p:txBody>
      </p:sp>
      <p:sp>
        <p:nvSpPr>
          <p:cNvPr id="4" name="Text 2"/>
          <p:cNvSpPr/>
          <p:nvPr/>
        </p:nvSpPr>
        <p:spPr>
          <a:xfrm>
            <a:off x="747713" y="2939207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恢复只能由新数据触发，按钮不能直接恢复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去重双键：message_id 优先，载荷哈希兜底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乱序丢弃、迟到不回滚、RECOVERED 锁定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每断面最多一个未关闭事件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747713" y="5025182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" name="Text 4"/>
          <p:cNvSpPr/>
          <p:nvPr/>
        </p:nvSpPr>
        <p:spPr>
          <a:xfrm>
            <a:off x="814388" y="5025182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：状态机单调可推导——任何一条消息到达，行为都有唯一答案。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692468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D1–D5 概览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1515963"/>
            <a:ext cx="10696575" cy="24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：三断面稳定在线，一条消息三端同步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：优先分自动标出当前最该看的断面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：事件全生命周期 + 去重/乱序/迟到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D4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：故障注入 → 拒绝统计 → 快速恢复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D5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：固定规则 × IsolationForest 双视角对照</a:t>
            </a:r>
            <a:endParaRPr lang="en-US" sz="21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3" y="4085332"/>
            <a:ext cx="4572000" cy="16027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7713" y="5940475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6" name="Text 3"/>
          <p:cNvSpPr/>
          <p:nvPr/>
        </p:nvSpPr>
        <p:spPr>
          <a:xfrm>
            <a:off x="814388" y="5940475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：从数据到决策，D1–D5 拼出完整监测闭环。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692468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E1/E2/E3 概览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1515963"/>
            <a:ext cx="10696575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E1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：Three.js 3D 河道，水位柱/水流动画/事件图标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：语音指令、结论朗读、现场拍照 + 感知记录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E3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：事件与干预跨端广播，两端状态实时一致</a:t>
            </a:r>
            <a:endParaRPr lang="en-US" sz="21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3" y="3118545"/>
            <a:ext cx="3048000" cy="304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466" y="4412456"/>
            <a:ext cx="3048000" cy="17540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7713" y="6418957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" name="Text 3"/>
          <p:cNvSpPr/>
          <p:nvPr/>
        </p:nvSpPr>
        <p:spPr>
          <a:xfrm>
            <a:off x="814388" y="6418957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：三端不再是三张孤立的页面，而是一套协同系统。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456105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一个真实故障与修复（D4）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279600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故障①：消息发到不存在的 Topic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故障②：载荷是损坏的 JSON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现象：拒绝计数 +1、显示拒绝原因，状态零污染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双保险：Topic 校验 + 载荷带 2000 年时间戳</a:t>
            </a:r>
            <a:endParaRPr lang="en-US" sz="21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13" y="4365575"/>
            <a:ext cx="1257300" cy="41433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766" y="4365575"/>
            <a:ext cx="1257300" cy="4143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7713" y="4932313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7" name="Text 3"/>
          <p:cNvSpPr/>
          <p:nvPr/>
        </p:nvSpPr>
        <p:spPr>
          <a:xfrm>
            <a:off x="814388" y="4932313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：故障演示不破坏演示环境，发一条正确消息即恢复。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739473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一个规则/ML 对照案例（D5）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562969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每个断面独立训练 IsolationForest（waterLevel/turbidity/flowLevel）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案例①：规则正常 + ML 明显异常 →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需人工复核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案例②：规则洪水预警 + ML 略偏 → 历史异常被学成常态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组合裁决：规则 0.7 + ML 0.3 加权打分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648944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648944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：规则查绝对阈值，ML 查"偏离自身历史"——互补而非替代。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734860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多端协同机制（E3）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558355"/>
            <a:ext cx="10696575" cy="1942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事件广播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849" dirty="0">
                <a:solidFill>
                  <a:srgbClr val="1F2328"/>
                </a:solidFill>
                <a:highlight>
                  <a:srgbClr val="F0F1F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event/update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：Web 是唯一权威端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干预广播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849" dirty="0">
                <a:solidFill>
                  <a:srgbClr val="1F2328"/>
                </a:solidFill>
                <a:highlight>
                  <a:srgbClr val="F0F1F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intervention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：两端平等发起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单调守卫 + 去重 + 幂等，杜绝状态分叉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移动端永不发 event/update，结构上排除环路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653558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653558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：谁在现场谁处置，两端最终状态一致。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497776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自主设计与作品亮点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321272"/>
            <a:ext cx="10696575" cy="24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前端库本地化 + 加载守卫，摆脱 CDN 依赖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测试面板 + 手动发布表单，全流程徒手可复现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故障载荷带旧时间戳，双保险不污染系统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 行粘连自动修复，读取层容错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构造样本标注，保证对照案例可复现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890641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890641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：不止完成任务书，更关注系统可复现、可演示、可解释。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739473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已知限制与后续想法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2562969"/>
            <a:ext cx="10696575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flowLevel 来源为 simulated，confidence 恒为 null（如实标注）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事件/照片为页面内存态，刷新即重置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ML 每断面样本量小，存在误报/漏报空间</a:t>
            </a:r>
            <a:endParaRPr lang="en-US" sz="2175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后续：真实视觉感知、持久化后端、云端部署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747713" y="4648944"/>
            <a:ext cx="66675" cy="414338"/>
          </a:xfrm>
          <a:prstGeom prst="rect">
            <a:avLst/>
          </a:prstGeom>
          <a:solidFill>
            <a:srgbClr val="D1D9E0"/>
          </a:solidFill>
          <a:ln/>
        </p:spPr>
      </p:sp>
      <p:sp>
        <p:nvSpPr>
          <p:cNvPr id="5" name="Text 3"/>
          <p:cNvSpPr/>
          <p:nvPr/>
        </p:nvSpPr>
        <p:spPr>
          <a:xfrm>
            <a:off x="814388" y="4648944"/>
            <a:ext cx="10629900" cy="414338"/>
          </a:xfrm>
          <a:prstGeom prst="rect">
            <a:avLst/>
          </a:prstGeom>
          <a:noFill/>
          <a:ln/>
        </p:spPr>
        <p:txBody>
          <a:bodyPr wrap="square" lIns="276225" tIns="0" rIns="276225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结论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5963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：限制如实声明；演进路径已经想清楚。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464564"/>
            <a:ext cx="11291888" cy="684907"/>
          </a:xfrm>
          <a:prstGeom prst="rect">
            <a:avLst/>
          </a:prstGeom>
          <a:noFill/>
          <a:ln/>
        </p:spPr>
        <p:txBody>
          <a:bodyPr wrap="square" lIns="0" tIns="0" rIns="0" bIns="132588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3480" b="1" dirty="0">
                <a:solidFill>
                  <a:srgbClr val="2244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谢谢</a:t>
            </a:r>
            <a:endParaRPr lang="en-US" sz="3480" dirty="0"/>
          </a:p>
        </p:txBody>
      </p:sp>
      <p:sp>
        <p:nvSpPr>
          <p:cNvPr id="3" name="Text 1"/>
          <p:cNvSpPr/>
          <p:nvPr/>
        </p:nvSpPr>
        <p:spPr>
          <a:xfrm>
            <a:off x="747713" y="3288060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TideWatch · 河道水位与水质智能监测、预警与多端协同系统</a:t>
            </a:r>
            <a:pPr algn="l" indent="0" marL="0">
              <a:lnSpc>
                <a:spcPct val="130000"/>
              </a:lnSpc>
              <a:buNone/>
            </a:pPr>
            <a:endParaRPr lang="en-US" sz="21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演示环境：Mosquitto 2.1.2 · Python 3.13 · Chrome/Edge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2026-10-04T15:29:19Z</dcterms:created>
  <dcterms:modified xsi:type="dcterms:W3CDTF">2026-10-04T15:29:19Z</dcterms:modified>
</cp:coreProperties>
</file>